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B1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B1F"/>
                </a:solidFill>
                <a:latin typeface="Calibri"/>
              </a:rPr>
              <a:t>Highest safe peak voltage vs frequency  (C = 1200 pF, 20 mA trip)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Sine drive</c:v>
                </c:pt>
              </c:strCache>
            </c:strRef>
          </c:tx>
          <c:spPr>
            <a:solidFill>
              <a:srgbClr val="990011"/>
            </a:solidFill>
            <a:ln w="38100" cap="flat">
              <a:solidFill>
                <a:srgbClr val="9900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0011"/>
              </a:solidFill>
              <a:ln w="9525" cap="flat">
                <a:solidFill>
                  <a:srgbClr val="9900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200</c:v>
                  </c:pt>
                  <c:pt idx="1">
                    <c:v>400</c:v>
                  </c:pt>
                  <c:pt idx="2">
                    <c:v>600</c:v>
                  </c:pt>
                  <c:pt idx="3">
                    <c:v>800</c:v>
                  </c:pt>
                  <c:pt idx="4">
                    <c:v>1000</c:v>
                  </c:pt>
                  <c:pt idx="5">
                    <c:v>1200</c:v>
                  </c:pt>
                  <c:pt idx="6">
                    <c:v>1400</c:v>
                  </c:pt>
                  <c:pt idx="7">
                    <c:v>1600</c:v>
                  </c:pt>
                  <c:pt idx="8">
                    <c:v>1800</c:v>
                  </c:pt>
                  <c:pt idx="9">
                    <c:v>2000</c:v>
                  </c:pt>
                  <c:pt idx="10">
                    <c:v>2200</c:v>
                  </c:pt>
                  <c:pt idx="11">
                    <c:v>2400</c:v>
                  </c:pt>
                  <c:pt idx="12">
                    <c:v>2600</c:v>
                  </c:pt>
                  <c:pt idx="13">
                    <c:v>2800</c:v>
                  </c:pt>
                  <c:pt idx="14">
                    <c:v>3000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</c:v>
                </c:pt>
                <c:pt idx="1">
                  <c:v>5</c:v>
                </c:pt>
                <c:pt idx="2">
                  <c:v>4.421</c:v>
                </c:pt>
                <c:pt idx="3">
                  <c:v>3.316</c:v>
                </c:pt>
                <c:pt idx="4">
                  <c:v>2.653</c:v>
                </c:pt>
                <c:pt idx="5">
                  <c:v>2.21</c:v>
                </c:pt>
                <c:pt idx="6">
                  <c:v>1.895</c:v>
                </c:pt>
                <c:pt idx="7">
                  <c:v>1.658</c:v>
                </c:pt>
                <c:pt idx="8">
                  <c:v>1.474</c:v>
                </c:pt>
                <c:pt idx="9">
                  <c:v>1.326</c:v>
                </c:pt>
                <c:pt idx="10">
                  <c:v>1.206</c:v>
                </c:pt>
                <c:pt idx="11">
                  <c:v>1.105</c:v>
                </c:pt>
                <c:pt idx="12">
                  <c:v>1.02</c:v>
                </c:pt>
                <c:pt idx="13">
                  <c:v>0.947</c:v>
                </c:pt>
                <c:pt idx="14">
                  <c:v>0.884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Triangle drive</c:v>
                </c:pt>
              </c:strCache>
            </c:strRef>
          </c:tx>
          <c:spPr>
            <a:solidFill>
              <a:srgbClr val="2F3C7E"/>
            </a:solidFill>
            <a:ln w="38100" cap="flat">
              <a:solidFill>
                <a:srgbClr val="2F3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3C7E"/>
              </a:solidFill>
              <a:ln w="9525" cap="flat">
                <a:solidFill>
                  <a:srgbClr val="2F3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200</c:v>
                  </c:pt>
                  <c:pt idx="1">
                    <c:v>400</c:v>
                  </c:pt>
                  <c:pt idx="2">
                    <c:v>600</c:v>
                  </c:pt>
                  <c:pt idx="3">
                    <c:v>800</c:v>
                  </c:pt>
                  <c:pt idx="4">
                    <c:v>1000</c:v>
                  </c:pt>
                  <c:pt idx="5">
                    <c:v>1200</c:v>
                  </c:pt>
                  <c:pt idx="6">
                    <c:v>1400</c:v>
                  </c:pt>
                  <c:pt idx="7">
                    <c:v>1600</c:v>
                  </c:pt>
                  <c:pt idx="8">
                    <c:v>1800</c:v>
                  </c:pt>
                  <c:pt idx="9">
                    <c:v>2000</c:v>
                  </c:pt>
                  <c:pt idx="10">
                    <c:v>2200</c:v>
                  </c:pt>
                  <c:pt idx="11">
                    <c:v>2400</c:v>
                  </c:pt>
                  <c:pt idx="12">
                    <c:v>2600</c:v>
                  </c:pt>
                  <c:pt idx="13">
                    <c:v>2800</c:v>
                  </c:pt>
                  <c:pt idx="14">
                    <c:v>3000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4.167</c:v>
                </c:pt>
                <c:pt idx="5">
                  <c:v>3.472</c:v>
                </c:pt>
                <c:pt idx="6">
                  <c:v>2.976</c:v>
                </c:pt>
                <c:pt idx="7">
                  <c:v>2.604</c:v>
                </c:pt>
                <c:pt idx="8">
                  <c:v>2.315</c:v>
                </c:pt>
                <c:pt idx="9">
                  <c:v>2.083</c:v>
                </c:pt>
                <c:pt idx="10">
                  <c:v>1.894</c:v>
                </c:pt>
                <c:pt idx="11">
                  <c:v>1.736</c:v>
                </c:pt>
                <c:pt idx="12">
                  <c:v>1.603</c:v>
                </c:pt>
                <c:pt idx="13">
                  <c:v>1.488</c:v>
                </c:pt>
                <c:pt idx="14">
                  <c:v>1.389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A6A7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A6A76"/>
                    </a:solidFill>
                    <a:latin typeface="Arial"/>
                  </a:rPr>
                  <a:t>Frequency (Hz)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A6A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12700" cap="flat">
              <a:solidFill>
                <a:srgbClr val="E6E2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A6A7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A6A76"/>
                    </a:solidFill>
                    <a:latin typeface="Arial"/>
                  </a:rPr>
                  <a:t>Peak voltage (kV)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A6A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A6A7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halves to this talk. First: how the app measures the capacitance of a deflection channel. Second: why that number is the thing that sets our voltage and frequency limits. No new physics here - it is all one equation, applied carefully.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the Load Characterization tab is to replace that single 1500 pF constant with a real, per-channel, on-demand measurement - and to get a leakage number out of the same measurement for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three of these are measured: V, I and the phase angle. C and G are computed from those three. tan delta is just a ratio of the two computed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drive amplitude is not constant across the nine frequencies. It is set each time so the load draws about 4 mA - 2.65 kV at 200 Hz, down to about 180 V at 3 kHz. That keeps the signal the same distance above the noise at every point in the sweep.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for judging the results. The capacitance is a projection onto the vertical axis and is insensitive to small angle errors. The leakage is a projection onto the horizontal axis and is maximally sensitive to them. So we quote C with confidence and treat the leakage as a comparison between channels, not as an absolute.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curve from the left. Below about 530 Hz for a sine the amplifier's own 5 kV rating is what stops us. Above that the load current takes over and the ceiling falls off as one over frequency. A triangle draws less peak current at the same amplitude, so its crossover sits higher, near 830 Hz. Both curves scale directly with C - a load 20 percent larger pushes the whole falling section down by 20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decision on one thing: whether to run the eight sweeps now, and whether to buy a known-good reference capacitor so the leakage number can be calibrated rather than only compared.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4754880" cy="4754880"/>
          </a:xfrm>
          <a:prstGeom prst="ellipse">
            <a:avLst/>
          </a:prstGeom>
          <a:solidFill>
            <a:srgbClr val="990011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371600"/>
            <a:ext cx="3108960" cy="31089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CHARACTERIZATION  ·  MODE 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the Plate Load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the capacitance of each deflection channel, and what that capacitance sets for the safe drive limits.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Beam Line  ·  Ion Beam Laboratory  ·  UW–Madison NEEP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this number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19072"/>
            <a:ext cx="457200" cy="45720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8249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plates are a capacitor.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029968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deflection channel drives the plates plus the cable and the feedthrough. Electrically that is one capacitor, and we call its value C.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200400"/>
            <a:ext cx="457200" cy="45720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316382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capacitor's current grows with frequency and voltage.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1296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Rastering means driving that capacitor with an AC waveform. The faster and higher we drive it, the more current the amplifier has to supply.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681728"/>
            <a:ext cx="457200" cy="45720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4681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464515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20 mA the amplifier trips.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992624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 is what decides how high and how fast we are allowed to drive - the operating envelope is a direct consequence of it.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01000" y="1719072"/>
            <a:ext cx="3611880" cy="4041648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8D4D2"/>
            </a:solidFill>
            <a:prstDash val="solid"/>
          </a:ln>
          <a:effectLst>
            <a:outerShdw sx="100000" sy="100000" kx="0" ky="0" algn="bl" rotWithShape="0" blurRad="152400" dist="25400" dir="5400000">
              <a:srgbClr val="9A9A9A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1040" y="1993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TODAY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3317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1500 pF</a:t>
            </a:r>
            <a:endParaRPr lang="en-US" sz="52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291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global number, back-solved once from two AC sweeps. It is used for all four channels.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2519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tell the four channels apart.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say whether a channel is leaking.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never been re-measured.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symbols, in plain terms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25296" y="15270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 (Hz)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18196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per second we swing the plate voltage.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013448" y="15270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frequency  (rad/s)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13448" y="18196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thing in radians: ω = 2πf. It only appears to keep the formulas short.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7614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25296" y="27340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plate voltage  (kV)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25296" y="30266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height of the voltage waveform we command.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27614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013448" y="27340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current  (mA)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30266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height of the current waveform the amplifier actually delivers.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96849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Δφ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25296" y="39410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angle  (degrees)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25296" y="423367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ahead of the voltage the current waveform sits in time. This is the measurement.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396849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013448" y="39410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  (pF)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13448" y="423367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charge the plates hold per volt applied. The number we are after.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17550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5175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1225296" y="5148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Conductance  (µS)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25296" y="54406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Leakage: current that flows in step with the voltage instead of ahead of it.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517550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5175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7013448" y="5148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tangent, tan δ  (unitless)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013448" y="54406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expressed as a fraction of the capacitive current. Zero for a perfect capacitor.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  ·  ONE CHANNEL AT A TIME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capacitance is measured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457200" cy="45720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57276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one channel with a sine wave at a known frequency.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305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frequency is commanded, so we know it exactly - we are not searching for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843784"/>
            <a:ext cx="457200" cy="45720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8163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both monitor BNCs at 50,000 samples per second for 1 second.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37413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monitor and current monitor, sampled at the same instant on the same card.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087368"/>
            <a:ext cx="457200" cy="45720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405993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three numbers from that record.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6177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peak voltage V, the peak current I, and the phase angle Δφ between them.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330952"/>
            <a:ext cx="457200" cy="45720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53035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C and G.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586130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equations, two unknowns. Then repeat at nine frequencies from 200 Hz to 3 kHz.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0" y="160020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2F3C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0956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EQUATIONS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2176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 =  I · sin(Δφ)  /  (2πf · V)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27614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 =  I · cos(Δφ)  /  V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right is measured.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4224528"/>
            <a:ext cx="40233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D4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09560" y="4434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nine frequencies?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4754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capacitor should give the same C at every frequency. Nine points is how we check that it does.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PHASE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comes from one angle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71600" y="5074920"/>
            <a:ext cx="3566160" cy="0"/>
          </a:xfrm>
          <a:prstGeom prst="line">
            <a:avLst/>
          </a:prstGeom>
          <a:noFill/>
          <a:ln w="28575">
            <a:solidFill>
              <a:srgbClr val="6A6A7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1371600" y="2468880"/>
            <a:ext cx="1325880" cy="2606040"/>
          </a:xfrm>
          <a:prstGeom prst="line">
            <a:avLst/>
          </a:prstGeom>
          <a:noFill/>
          <a:ln w="38100">
            <a:solidFill>
              <a:srgbClr val="99001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97480" y="2468880"/>
            <a:ext cx="0" cy="2606040"/>
          </a:xfrm>
          <a:prstGeom prst="line">
            <a:avLst/>
          </a:prstGeom>
          <a:noFill/>
          <a:ln w="25400">
            <a:solidFill>
              <a:srgbClr val="2F3C7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371600" y="5074920"/>
            <a:ext cx="1325880" cy="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5184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4599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Δφ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43784" y="35890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this part is C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5376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 is G (leakage)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8978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exaggerated for clarity - a healthy channel sits within a degree of 90°.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57276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capacitor puts the current exactly 90° ahead of the voltage.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08483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is proportional to voltage, so current - the rate of change of charge - peaks when the voltage is changing fastest, which is a quarter cycle earlier.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305409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straight-up part of the current gives C.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5661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sin(Δφ) term. Near 90° the sine is essentially flat, so a couple of degrees of error costs a fraction of a percent on C. C is robust.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45354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sideways part gives the leakage.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504748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cos(Δφ) term, and near 90° the cosine is changing fastest. A 4° error invents leakage that is not there. Leakage is fragile.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capacitance sets: the drive limit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4114800" cy="1481328"/>
          </a:xfrm>
          <a:prstGeom prst="roundRect">
            <a:avLst>
              <a:gd name="adj" fmla="val 6173"/>
            </a:avLst>
          </a:prstGeom>
          <a:solidFill>
            <a:srgbClr val="2F3C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45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DRAWN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965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=  k · f · C · V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2π for a sine, 4 for a triangle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127248"/>
            <a:ext cx="4114800" cy="1481328"/>
          </a:xfrm>
          <a:prstGeom prst="roundRect">
            <a:avLst>
              <a:gd name="adj" fmla="val 6173"/>
            </a:avLst>
          </a:prstGeom>
          <a:solidFill>
            <a:srgbClr val="9900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3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VOLTAGE ALLOWED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6301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 =  20 mA  /  (k · f · C)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equation, solved for V at the trip current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846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 wrong and this limit is wrong. That is the entire reason the measurement exists.</a:t>
            </a:r>
            <a:endParaRPr lang="en-US" sz="13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983480" y="146304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983480" y="574243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section = the amplifier's 5 kV rating is the limit.   Falling section = the load current is the limit.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5623560"/>
            <a:ext cx="4023360" cy="4023360"/>
          </a:xfrm>
          <a:prstGeom prst="ellipse">
            <a:avLst/>
          </a:prstGeom>
          <a:solidFill>
            <a:srgbClr val="990011">
              <a:alpha val="3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3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LEAVES 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6926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trust, and what to do next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502152" cy="2816352"/>
          </a:xfrm>
          <a:prstGeom prst="roundRect">
            <a:avLst>
              <a:gd name="adj" fmla="val 324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A6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249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3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5511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090672"/>
            <a:ext cx="2944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5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a few percent, per channel, on demand. This is what should replace the single 1500 pF constant in the drive limits.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502152" cy="2816352"/>
          </a:xfrm>
          <a:prstGeom prst="roundRect">
            <a:avLst>
              <a:gd name="adj" fmla="val 324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A6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2249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3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5511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only.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090672"/>
            <a:ext cx="2944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5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phase measurement, and the monitors' own phase response contaminates it above roughly 1 kHz. A channel that reads high against the other three is real; the absolute number is not.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2011680"/>
            <a:ext cx="3502152" cy="2816352"/>
          </a:xfrm>
          <a:prstGeom prst="roundRect">
            <a:avLst>
              <a:gd name="adj" fmla="val 324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A66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93608" y="2249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3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25511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sweeps.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3090672"/>
            <a:ext cx="2944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5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channels, disconnected and then on the plates. The difference between the two is the capacitance of the plates themselves.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349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sine, one angle, one equation — and the drive envelope follows from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the Plate Load</dc:title>
  <dc:subject>PptxGenJS Presentation</dc:subject>
  <dc:creator>Isaac Legault</dc:creator>
  <cp:lastModifiedBy>Isaac Legault</cp:lastModifiedBy>
  <cp:revision>1</cp:revision>
  <dcterms:created xsi:type="dcterms:W3CDTF">2026-09-08T19:27:54Z</dcterms:created>
  <dcterms:modified xsi:type="dcterms:W3CDTF">2026-09-08T19:27:54Z</dcterms:modified>
</cp:coreProperties>
</file>